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1371600"/>
            <a:ext cx="11277295" cy="0"/>
          </a:xfrm>
          <a:prstGeom prst="rect">
            <a:avLst/>
          </a:prstGeom>
          <a:noFill/>
          <a:ln/>
        </p:spPr>
        <p:txBody>
          <a:bodyPr wrap="square" rtlCol="0" anchor="ctr"/>
          <a:lstStyle/>
          <a:p>
            <a:pPr algn="ctr" indent="0" marL="0">
              <a:buNone/>
            </a:pPr>
            <a:r>
              <a:rPr lang="en-US" sz="3600" b="1" dirty="0">
                <a:solidFill>
                  <a:srgbClr val="E2E4F0"/>
                </a:solidFill>
                <a:latin typeface="Inter" pitchFamily="34" charset="0"/>
                <a:ea typeface="Inter" pitchFamily="34" charset="-122"/>
                <a:cs typeface="Inter" pitchFamily="34" charset="-120"/>
              </a:rPr>
              <a:t>Kinematics: The Study of Motion</a:t>
            </a:r>
            <a:endParaRPr lang="en-US" sz="3600" dirty="0"/>
          </a:p>
        </p:txBody>
      </p:sp>
      <p:sp>
        <p:nvSpPr>
          <p:cNvPr id="3" name="Text 1"/>
          <p:cNvSpPr/>
          <p:nvPr/>
        </p:nvSpPr>
        <p:spPr>
          <a:xfrm>
            <a:off x="457200" y="3154680"/>
            <a:ext cx="11277295" cy="0"/>
          </a:xfrm>
          <a:prstGeom prst="rect">
            <a:avLst/>
          </a:prstGeom>
          <a:noFill/>
          <a:ln/>
        </p:spPr>
        <p:txBody>
          <a:bodyPr wrap="square" rtlCol="0" anchor="ctr"/>
          <a:lstStyle/>
          <a:p>
            <a:pPr algn="ctr" indent="0" marL="0">
              <a:buNone/>
            </a:pPr>
            <a:r>
              <a:rPr lang="en-US" sz="1400" dirty="0">
                <a:solidFill>
                  <a:srgbClr val="8B90A8"/>
                </a:solidFill>
                <a:latin typeface="Inter" pitchFamily="34" charset="0"/>
                <a:ea typeface="Inter" pitchFamily="34" charset="-122"/>
                <a:cs typeface="Inter" pitchFamily="34" charset="-120"/>
              </a:rPr>
              <a:t>General PhysicsUndergraduateI — Mechanics</a:t>
            </a:r>
            <a:endParaRPr lang="en-US" sz="1400" dirty="0"/>
          </a:p>
        </p:txBody>
      </p:sp>
      <p:sp>
        <p:nvSpPr>
          <p:cNvPr id="4" name="Text 2"/>
          <p:cNvSpPr/>
          <p:nvPr/>
        </p:nvSpPr>
        <p:spPr>
          <a:xfrm>
            <a:off x="457200" y="3520440"/>
            <a:ext cx="11277295" cy="0"/>
          </a:xfrm>
          <a:prstGeom prst="rect">
            <a:avLst/>
          </a:prstGeom>
          <a:noFill/>
          <a:ln/>
        </p:spPr>
        <p:txBody>
          <a:bodyPr wrap="square" rtlCol="0" anchor="ctr"/>
          <a:lstStyle/>
          <a:p>
            <a:pPr indent="0" marL="0">
              <a:lnSpc>
                <a:spcPct val="115000"/>
              </a:lnSpc>
              <a:buNone/>
            </a:pPr>
            <a:r>
              <a:rPr lang="en-US" sz="1400" dirty="0">
                <a:solidFill>
                  <a:srgbClr val="E2E4F0"/>
                </a:solidFill>
                <a:latin typeface="Inter" pitchFamily="34" charset="0"/>
                <a:ea typeface="Inter" pitchFamily="34" charset="-122"/>
                <a:cs typeface="Inter" pitchFamily="34" charset="-120"/>
              </a:rPr>
              <a:t>Edumark Example·2026-03·v1</a:t>
            </a:r>
            <a:endParaRPr lang="en-US" sz="1400" dirty="0"/>
          </a:p>
        </p:txBody>
      </p:sp>
      <p:sp>
        <p:nvSpPr>
          <p:cNvPr id="5" name="Text 3"/>
          <p:cNvSpPr/>
          <p:nvPr/>
        </p:nvSpPr>
        <p:spPr>
          <a:xfrm>
            <a:off x="594360" y="3822192"/>
            <a:ext cx="11002975" cy="0"/>
          </a:xfrm>
          <a:prstGeom prst="rect">
            <a:avLst/>
          </a:prstGeom>
          <a:noFill/>
          <a:ln/>
        </p:spPr>
        <p:txBody>
          <a:bodyPr wrap="square" rtlCol="0" anchor="ctr"/>
          <a:lstStyle/>
          <a:p>
            <a:pPr marL="342900" indent="-342900">
              <a:buSzPct val="100000"/>
              <a:buChar char="•"/>
            </a:pPr>
            <a:r>
              <a:rPr lang="en-US" sz="1400" dirty="0">
                <a:solidFill>
                  <a:srgbClr val="E2E4F0"/>
                </a:solidFill>
                <a:latin typeface="Inter" pitchFamily="34" charset="0"/>
                <a:ea typeface="Inter" pitchFamily="34" charset="-122"/>
                <a:cs typeface="Inter" pitchFamily="34" charset="-120"/>
              </a:rPr>
              <a:t>Position and displacement</a:t>
            </a:r>
            <a:endParaRPr lang="en-US" sz="1400" dirty="0"/>
          </a:p>
          <a:p>
            <a:pPr marL="342900" indent="-342900">
              <a:buSzPct val="100000"/>
              <a:buChar char="•"/>
            </a:pPr>
            <a:r>
              <a:rPr lang="en-US" sz="1400" dirty="0">
                <a:solidFill>
                  <a:srgbClr val="E2E4F0"/>
                </a:solidFill>
                <a:latin typeface="Inter" pitchFamily="34" charset="0"/>
                <a:ea typeface="Inter" pitchFamily="34" charset="-122"/>
                <a:cs typeface="Inter" pitchFamily="34" charset="-120"/>
              </a:rPr>
              <a:t>Average and instantaneous velocity</a:t>
            </a:r>
            <a:endParaRPr lang="en-US" sz="1400" dirty="0"/>
          </a:p>
          <a:p>
            <a:pPr marL="342900" indent="-342900">
              <a:buSzPct val="100000"/>
              <a:buChar char="•"/>
            </a:pPr>
            <a:r>
              <a:rPr lang="en-US" sz="1400" dirty="0">
                <a:solidFill>
                  <a:srgbClr val="E2E4F0"/>
                </a:solidFill>
                <a:latin typeface="Inter" pitchFamily="34" charset="0"/>
                <a:ea typeface="Inter" pitchFamily="34" charset="-122"/>
                <a:cs typeface="Inter" pitchFamily="34" charset="-120"/>
              </a:rPr>
              <a:t>Acceleration</a:t>
            </a:r>
            <a:endParaRPr lang="en-US" sz="1400" dirty="0"/>
          </a:p>
          <a:p>
            <a:pPr marL="342900" indent="-342900">
              <a:buSzPct val="100000"/>
              <a:buChar char="•"/>
            </a:pPr>
            <a:r>
              <a:rPr lang="en-US" sz="1400" dirty="0">
                <a:solidFill>
                  <a:srgbClr val="E2E4F0"/>
                </a:solidFill>
                <a:latin typeface="Inter" pitchFamily="34" charset="0"/>
                <a:ea typeface="Inter" pitchFamily="34" charset="-122"/>
                <a:cs typeface="Inter" pitchFamily="34" charset="-120"/>
              </a:rPr>
              <a:t>Uniform rectilinear motion (URM)</a:t>
            </a:r>
            <a:endParaRPr lang="en-US" sz="1400" dirty="0"/>
          </a:p>
          <a:p>
            <a:pPr marL="342900" indent="-342900">
              <a:buSzPct val="100000"/>
              <a:buChar char="•"/>
            </a:pPr>
            <a:r>
              <a:rPr lang="en-US" sz="1400" dirty="0">
                <a:solidFill>
                  <a:srgbClr val="E2E4F0"/>
                </a:solidFill>
                <a:latin typeface="Inter" pitchFamily="34" charset="0"/>
                <a:ea typeface="Inter" pitchFamily="34" charset="-122"/>
                <a:cs typeface="Inter" pitchFamily="34" charset="-120"/>
              </a:rPr>
              <a:t>Uniformly accelerated rectilinear motion (UARM)</a:t>
            </a:r>
            <a:endParaRPr lang="en-US" sz="1400" dirty="0"/>
          </a:p>
          <a:p>
            <a:pPr marL="342900" indent="-342900">
              <a:buSzPct val="100000"/>
              <a:buChar char="•"/>
            </a:pPr>
            <a:r>
              <a:rPr lang="en-US" sz="1400" dirty="0">
                <a:solidFill>
                  <a:srgbClr val="E2E4F0"/>
                </a:solidFill>
                <a:latin typeface="Inter" pitchFamily="34" charset="0"/>
                <a:ea typeface="Inter" pitchFamily="34" charset="-122"/>
                <a:cs typeface="Inter" pitchFamily="34" charset="-120"/>
              </a:rPr>
              <a:t>Free fall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3200" b="1" dirty="0">
                <a:solidFill>
                  <a:srgbClr val="E2E4F0"/>
                </a:solidFill>
                <a:latin typeface="Inter" pitchFamily="34" charset="0"/>
                <a:ea typeface="Inter" pitchFamily="34" charset="-122"/>
                <a:cs typeface="Inter" pitchFamily="34" charset="-120"/>
              </a:rPr>
              <a:t>Kinematics: The Study of Motion</a:t>
            </a:r>
            <a:endParaRPr lang="en-US" sz="3200" dirty="0"/>
          </a:p>
        </p:txBody>
      </p:sp>
      <p:sp>
        <p:nvSpPr>
          <p:cNvPr id="3" name="Shape 1"/>
          <p:cNvSpPr/>
          <p:nvPr/>
        </p:nvSpPr>
        <p:spPr>
          <a:xfrm>
            <a:off x="457200" y="1965960"/>
            <a:ext cx="11277295" cy="2240280"/>
          </a:xfrm>
          <a:prstGeom prst="roundRect">
            <a:avLst>
              <a:gd name="adj" fmla="val 6803"/>
            </a:avLst>
          </a:prstGeom>
          <a:solidFill>
            <a:srgbClr val="161822"/>
          </a:solidFill>
          <a:ln w="6350">
            <a:solidFill>
              <a:srgbClr val="7C5CFC"/>
            </a:solidFill>
            <a:prstDash val="solid"/>
          </a:ln>
        </p:spPr>
      </p:sp>
      <p:sp>
        <p:nvSpPr>
          <p:cNvPr id="4" name="Shape 2"/>
          <p:cNvSpPr/>
          <p:nvPr/>
        </p:nvSpPr>
        <p:spPr>
          <a:xfrm>
            <a:off x="457200" y="1965960"/>
            <a:ext cx="54864" cy="2240280"/>
          </a:xfrm>
          <a:prstGeom prst="rect">
            <a:avLst/>
          </a:prstGeom>
          <a:solidFill>
            <a:srgbClr val="7C5CFC"/>
          </a:solidFill>
          <a:ln w="12700">
            <a:solidFill>
              <a:srgbClr val="333333"/>
            </a:solidFill>
            <a:prstDash val="solid"/>
          </a:ln>
        </p:spPr>
      </p:sp>
      <p:sp>
        <p:nvSpPr>
          <p:cNvPr id="5" name="Text 3"/>
          <p:cNvSpPr/>
          <p:nvPr/>
        </p:nvSpPr>
        <p:spPr>
          <a:xfrm>
            <a:off x="640080" y="20391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Objetivos de aprendizaje</a:t>
            </a:r>
            <a:endParaRPr lang="en-US" sz="1300" dirty="0"/>
          </a:p>
        </p:txBody>
      </p:sp>
      <p:sp>
        <p:nvSpPr>
          <p:cNvPr id="6" name="Text 4"/>
          <p:cNvSpPr/>
          <p:nvPr/>
        </p:nvSpPr>
        <p:spPr>
          <a:xfrm>
            <a:off x="685800" y="24231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By the end of this chapter the student will be able to:</a:t>
            </a:r>
            <a:endParaRPr lang="en-US" sz="1200" dirty="0"/>
          </a:p>
        </p:txBody>
      </p:sp>
      <p:sp>
        <p:nvSpPr>
          <p:cNvPr id="7" name="Text 5"/>
          <p:cNvSpPr/>
          <p:nvPr/>
        </p:nvSpPr>
        <p:spPr>
          <a:xfrm>
            <a:off x="731520" y="265176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Distinguish between position, displacement, and distance traveled.</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Calculate average and instantaneous velocity.</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Solve URM and UARM problems.</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Apply the free-fall equations.</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Interpret position-time and velocity-time graphs.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1. Position and displacement</a:t>
            </a:r>
            <a:endParaRPr lang="en-US" sz="2600" dirty="0"/>
          </a:p>
        </p:txBody>
      </p:sp>
      <p:sp>
        <p:nvSpPr>
          <p:cNvPr id="3" name="Text 1"/>
          <p:cNvSpPr/>
          <p:nvPr/>
        </p:nvSpPr>
        <p:spPr>
          <a:xfrm>
            <a:off x="457200" y="1691640"/>
            <a:ext cx="11277295" cy="0"/>
          </a:xfrm>
          <a:prstGeom prst="rect">
            <a:avLst/>
          </a:prstGeom>
          <a:noFill/>
          <a:ln/>
        </p:spPr>
        <p:txBody>
          <a:bodyPr wrap="square" rtlCol="0" anchor="ctr"/>
          <a:lstStyle/>
          <a:p>
            <a:pPr indent="0" marL="0">
              <a:lnSpc>
                <a:spcPct val="115000"/>
              </a:lnSpc>
              <a:buNone/>
            </a:pPr>
            <a:r>
              <a:rPr lang="en-US" sz="1400" dirty="0">
                <a:solidFill>
                  <a:srgbClr val="E2E4F0"/>
                </a:solidFill>
                <a:latin typeface="Inter" pitchFamily="34" charset="0"/>
                <a:ea typeface="Inter" pitchFamily="34" charset="-122"/>
                <a:cs typeface="Inter" pitchFamily="34" charset="-120"/>
              </a:rPr>
              <a:t>Kinematics is the branch of mechanics that describes the motion of bodies without considering the forces that produce it. To describe motion we need to define a reference frame.</a:t>
            </a:r>
            <a:endParaRPr lang="en-US" sz="1400" dirty="0"/>
          </a:p>
        </p:txBody>
      </p:sp>
      <p:sp>
        <p:nvSpPr>
          <p:cNvPr id="4" name="Shape 2"/>
          <p:cNvSpPr/>
          <p:nvPr/>
        </p:nvSpPr>
        <p:spPr>
          <a:xfrm>
            <a:off x="457200" y="2249424"/>
            <a:ext cx="11277295" cy="960120"/>
          </a:xfrm>
          <a:prstGeom prst="roundRect">
            <a:avLst>
              <a:gd name="adj" fmla="val 15873"/>
            </a:avLst>
          </a:prstGeom>
          <a:solidFill>
            <a:srgbClr val="161822"/>
          </a:solidFill>
          <a:ln w="6350">
            <a:solidFill>
              <a:srgbClr val="5B9CF5"/>
            </a:solidFill>
            <a:prstDash val="solid"/>
          </a:ln>
        </p:spPr>
      </p:sp>
      <p:sp>
        <p:nvSpPr>
          <p:cNvPr id="5" name="Shape 3"/>
          <p:cNvSpPr/>
          <p:nvPr/>
        </p:nvSpPr>
        <p:spPr>
          <a:xfrm>
            <a:off x="457200" y="2249424"/>
            <a:ext cx="54864" cy="960120"/>
          </a:xfrm>
          <a:prstGeom prst="rect">
            <a:avLst/>
          </a:prstGeom>
          <a:solidFill>
            <a:srgbClr val="5B9CF5"/>
          </a:solidFill>
          <a:ln w="12700">
            <a:solidFill>
              <a:srgbClr val="333333"/>
            </a:solidFill>
            <a:prstDash val="solid"/>
          </a:ln>
        </p:spPr>
      </p:sp>
      <p:sp>
        <p:nvSpPr>
          <p:cNvPr id="6" name="Text 4"/>
          <p:cNvSpPr/>
          <p:nvPr/>
        </p:nvSpPr>
        <p:spPr>
          <a:xfrm>
            <a:off x="640080" y="2322576"/>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Definición</a:t>
            </a:r>
            <a:endParaRPr lang="en-US" sz="1300" dirty="0"/>
          </a:p>
        </p:txBody>
      </p:sp>
      <p:sp>
        <p:nvSpPr>
          <p:cNvPr id="7" name="Text 5"/>
          <p:cNvSpPr/>
          <p:nvPr/>
        </p:nvSpPr>
        <p:spPr>
          <a:xfrm>
            <a:off x="685800" y="2706624"/>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Position: Coordinate that indicates the location of an object relative to a reference point (origin) at a given instant. It is a vector quantity represented as  in one dimension.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Definición</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Displacement: Change in the position of an object: . It is a vector from the initial point to the final point, independent of the path taken.</a:t>
            </a:r>
            <a:endParaRPr lang="en-US" sz="1200" dirty="0"/>
          </a:p>
        </p:txBody>
      </p:sp>
      <p:sp>
        <p:nvSpPr>
          <p:cNvPr id="6" name="Shape 4"/>
          <p:cNvSpPr/>
          <p:nvPr/>
        </p:nvSpPr>
        <p:spPr>
          <a:xfrm>
            <a:off x="457200" y="1508760"/>
            <a:ext cx="11277295" cy="960120"/>
          </a:xfrm>
          <a:prstGeom prst="roundRect">
            <a:avLst>
              <a:gd name="adj" fmla="val 15873"/>
            </a:avLst>
          </a:prstGeom>
          <a:solidFill>
            <a:srgbClr val="161822"/>
          </a:solidFill>
          <a:ln w="6350">
            <a:solidFill>
              <a:srgbClr val="FB923C"/>
            </a:solidFill>
            <a:prstDash val="solid"/>
          </a:ln>
        </p:spPr>
      </p:sp>
      <p:sp>
        <p:nvSpPr>
          <p:cNvPr id="7" name="Shape 5"/>
          <p:cNvSpPr/>
          <p:nvPr/>
        </p:nvSpPr>
        <p:spPr>
          <a:xfrm>
            <a:off x="457200" y="1508760"/>
            <a:ext cx="54864" cy="960120"/>
          </a:xfrm>
          <a:prstGeom prst="rect">
            <a:avLst/>
          </a:prstGeom>
          <a:solidFill>
            <a:srgbClr val="FB923C"/>
          </a:solidFill>
          <a:ln w="12700">
            <a:solidFill>
              <a:srgbClr val="333333"/>
            </a:solidFill>
            <a:prstDash val="solid"/>
          </a:ln>
        </p:spPr>
      </p:sp>
      <p:sp>
        <p:nvSpPr>
          <p:cNvPr id="8" name="Text 6"/>
          <p:cNvSpPr/>
          <p:nvPr/>
        </p:nvSpPr>
        <p:spPr>
          <a:xfrm>
            <a:off x="640080" y="1581912"/>
            <a:ext cx="10911535" cy="365760"/>
          </a:xfrm>
          <a:prstGeom prst="rect">
            <a:avLst/>
          </a:prstGeom>
          <a:noFill/>
          <a:ln/>
        </p:spPr>
        <p:txBody>
          <a:bodyPr wrap="square" rtlCol="0" anchor="ctr"/>
          <a:lstStyle/>
          <a:p>
            <a:pPr indent="0" marL="0">
              <a:buNone/>
            </a:pPr>
            <a:r>
              <a:rPr lang="en-US" sz="1300" b="1" dirty="0">
                <a:solidFill>
                  <a:srgbClr val="FB923C"/>
                </a:solidFill>
                <a:latin typeface="Inter" pitchFamily="34" charset="0"/>
                <a:ea typeface="Inter" pitchFamily="34" charset="-122"/>
                <a:cs typeface="Inter" pitchFamily="34" charset="-120"/>
              </a:rPr>
              <a:t>Advertencia</a:t>
            </a:r>
            <a:endParaRPr lang="en-US" sz="1300" dirty="0"/>
          </a:p>
        </p:txBody>
      </p:sp>
      <p:sp>
        <p:nvSpPr>
          <p:cNvPr id="9" name="Text 7"/>
          <p:cNvSpPr/>
          <p:nvPr/>
        </p:nvSpPr>
        <p:spPr>
          <a:xfrm>
            <a:off x="685800" y="1965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Do not confuse displacement with distance traveled. Displacement is a vector (has direction and can be negative); distance is a scalar (always positive). A runner who completes one lap of a 400 m track has distance traveled = 400 m but displacement = 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Diagrama: Displacement vs. distance traveled</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Number line (x-axis) representation:</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Point A at  (initial position)</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Point B at  (intermediate position)</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Point C at  (final position)</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Path: A → B → C</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Displacement: straight arrow from A to C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Distance traveled: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2. Velocity</a:t>
            </a:r>
            <a:endParaRPr lang="en-US" sz="2600" dirty="0"/>
          </a:p>
        </p:txBody>
      </p:sp>
      <p:sp>
        <p:nvSpPr>
          <p:cNvPr id="3" name="Shape 1"/>
          <p:cNvSpPr/>
          <p:nvPr/>
        </p:nvSpPr>
        <p:spPr>
          <a:xfrm>
            <a:off x="457200" y="1691640"/>
            <a:ext cx="11277295" cy="960120"/>
          </a:xfrm>
          <a:prstGeom prst="roundRect">
            <a:avLst>
              <a:gd name="adj" fmla="val 15873"/>
            </a:avLst>
          </a:prstGeom>
          <a:solidFill>
            <a:srgbClr val="161822"/>
          </a:solidFill>
          <a:ln w="6350">
            <a:solidFill>
              <a:srgbClr val="5B9CF5"/>
            </a:solidFill>
            <a:prstDash val="solid"/>
          </a:ln>
        </p:spPr>
      </p:sp>
      <p:sp>
        <p:nvSpPr>
          <p:cNvPr id="4" name="Shape 2"/>
          <p:cNvSpPr/>
          <p:nvPr/>
        </p:nvSpPr>
        <p:spPr>
          <a:xfrm>
            <a:off x="457200" y="1691640"/>
            <a:ext cx="54864" cy="960120"/>
          </a:xfrm>
          <a:prstGeom prst="rect">
            <a:avLst/>
          </a:prstGeom>
          <a:solidFill>
            <a:srgbClr val="5B9CF5"/>
          </a:solidFill>
          <a:ln w="12700">
            <a:solidFill>
              <a:srgbClr val="333333"/>
            </a:solidFill>
            <a:prstDash val="solid"/>
          </a:ln>
        </p:spPr>
      </p:sp>
      <p:sp>
        <p:nvSpPr>
          <p:cNvPr id="5" name="Text 3"/>
          <p:cNvSpPr/>
          <p:nvPr/>
        </p:nvSpPr>
        <p:spPr>
          <a:xfrm>
            <a:off x="640080" y="176479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Definición</a:t>
            </a:r>
            <a:endParaRPr lang="en-US" sz="1300" dirty="0"/>
          </a:p>
        </p:txBody>
      </p:sp>
      <p:sp>
        <p:nvSpPr>
          <p:cNvPr id="6" name="Text 4"/>
          <p:cNvSpPr/>
          <p:nvPr/>
        </p:nvSpPr>
        <p:spPr>
          <a:xfrm>
            <a:off x="685800" y="2148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Average velocity: Ratio of displacement to time interval: . It is a vector quantity. SI units are m/s.</a:t>
            </a:r>
            <a:endParaRPr lang="en-US" sz="1200" dirty="0"/>
          </a:p>
        </p:txBody>
      </p:sp>
      <p:sp>
        <p:nvSpPr>
          <p:cNvPr id="7" name="Shape 5"/>
          <p:cNvSpPr/>
          <p:nvPr/>
        </p:nvSpPr>
        <p:spPr>
          <a:xfrm>
            <a:off x="457200" y="2834640"/>
            <a:ext cx="11277295" cy="960120"/>
          </a:xfrm>
          <a:prstGeom prst="roundRect">
            <a:avLst>
              <a:gd name="adj" fmla="val 15873"/>
            </a:avLst>
          </a:prstGeom>
          <a:solidFill>
            <a:srgbClr val="161822"/>
          </a:solidFill>
          <a:ln w="6350">
            <a:solidFill>
              <a:srgbClr val="5B9CF5"/>
            </a:solidFill>
            <a:prstDash val="solid"/>
          </a:ln>
        </p:spPr>
      </p:sp>
      <p:sp>
        <p:nvSpPr>
          <p:cNvPr id="8" name="Shape 6"/>
          <p:cNvSpPr/>
          <p:nvPr/>
        </p:nvSpPr>
        <p:spPr>
          <a:xfrm>
            <a:off x="457200" y="2834640"/>
            <a:ext cx="54864" cy="960120"/>
          </a:xfrm>
          <a:prstGeom prst="rect">
            <a:avLst/>
          </a:prstGeom>
          <a:solidFill>
            <a:srgbClr val="5B9CF5"/>
          </a:solidFill>
          <a:ln w="12700">
            <a:solidFill>
              <a:srgbClr val="333333"/>
            </a:solidFill>
            <a:prstDash val="solid"/>
          </a:ln>
        </p:spPr>
      </p:sp>
      <p:sp>
        <p:nvSpPr>
          <p:cNvPr id="9" name="Text 7"/>
          <p:cNvSpPr/>
          <p:nvPr/>
        </p:nvSpPr>
        <p:spPr>
          <a:xfrm>
            <a:off x="640080" y="290779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Definición</a:t>
            </a:r>
            <a:endParaRPr lang="en-US" sz="1300" dirty="0"/>
          </a:p>
        </p:txBody>
      </p:sp>
      <p:sp>
        <p:nvSpPr>
          <p:cNvPr id="10" name="Text 8"/>
          <p:cNvSpPr/>
          <p:nvPr/>
        </p:nvSpPr>
        <p:spPr>
          <a:xfrm>
            <a:off x="685800" y="3291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Instantaneous velocity: Limit of average velocity as the time interval approaches zero: . It corresponds to the slope of the position-time curve at each instant.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4ADE80"/>
            </a:solidFill>
            <a:prstDash val="solid"/>
          </a:ln>
        </p:spPr>
      </p:sp>
      <p:sp>
        <p:nvSpPr>
          <p:cNvPr id="3" name="Shape 1"/>
          <p:cNvSpPr/>
          <p:nvPr/>
        </p:nvSpPr>
        <p:spPr>
          <a:xfrm>
            <a:off x="457200" y="365760"/>
            <a:ext cx="54864" cy="960120"/>
          </a:xfrm>
          <a:prstGeom prst="rect">
            <a:avLst/>
          </a:prstGeom>
          <a:solidFill>
            <a:srgbClr val="4ADE80"/>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4ADE80"/>
                </a:solidFill>
                <a:latin typeface="Inter" pitchFamily="34" charset="0"/>
                <a:ea typeface="Inter" pitchFamily="34" charset="-122"/>
                <a:cs typeface="Inter" pitchFamily="34" charset="-120"/>
              </a:rPr>
              <a:t>Concepto clave</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a position vs. time graph, the slope of the curve at any point is the instantaneous velocity. A straight line indicates constant velocity; a curve indicates acceleration.</a:t>
            </a:r>
            <a:endParaRPr lang="en-US" sz="1200" dirty="0"/>
          </a:p>
        </p:txBody>
      </p:sp>
      <p:sp>
        <p:nvSpPr>
          <p:cNvPr id="6" name="Shape 4"/>
          <p:cNvSpPr/>
          <p:nvPr/>
        </p:nvSpPr>
        <p:spPr>
          <a:xfrm>
            <a:off x="457200" y="1508760"/>
            <a:ext cx="11277295" cy="960120"/>
          </a:xfrm>
          <a:prstGeom prst="roundRect">
            <a:avLst>
              <a:gd name="adj" fmla="val 15873"/>
            </a:avLst>
          </a:prstGeom>
          <a:solidFill>
            <a:srgbClr val="161822"/>
          </a:solidFill>
          <a:ln w="6350">
            <a:solidFill>
              <a:srgbClr val="2DD4BF"/>
            </a:solidFill>
            <a:prstDash val="solid"/>
          </a:ln>
        </p:spPr>
      </p:sp>
      <p:sp>
        <p:nvSpPr>
          <p:cNvPr id="7" name="Shape 5"/>
          <p:cNvSpPr/>
          <p:nvPr/>
        </p:nvSpPr>
        <p:spPr>
          <a:xfrm>
            <a:off x="457200" y="1508760"/>
            <a:ext cx="54864" cy="960120"/>
          </a:xfrm>
          <a:prstGeom prst="rect">
            <a:avLst/>
          </a:prstGeom>
          <a:solidFill>
            <a:srgbClr val="2DD4BF"/>
          </a:solidFill>
          <a:ln w="12700">
            <a:solidFill>
              <a:srgbClr val="333333"/>
            </a:solidFill>
            <a:prstDash val="solid"/>
          </a:ln>
        </p:spPr>
      </p:sp>
      <p:sp>
        <p:nvSpPr>
          <p:cNvPr id="8" name="Text 6"/>
          <p:cNvSpPr/>
          <p:nvPr/>
        </p:nvSpPr>
        <p:spPr>
          <a:xfrm>
            <a:off x="640080" y="1581912"/>
            <a:ext cx="10911535" cy="365760"/>
          </a:xfrm>
          <a:prstGeom prst="rect">
            <a:avLst/>
          </a:prstGeom>
          <a:noFill/>
          <a:ln/>
        </p:spPr>
        <p:txBody>
          <a:bodyPr wrap="square" rtlCol="0" anchor="ctr"/>
          <a:lstStyle/>
          <a:p>
            <a:pPr indent="0" marL="0">
              <a:buNone/>
            </a:pPr>
            <a:r>
              <a:rPr lang="en-US" sz="1300" b="1" dirty="0">
                <a:solidFill>
                  <a:srgbClr val="2DD4BF"/>
                </a:solidFill>
                <a:latin typeface="Inter" pitchFamily="34" charset="0"/>
                <a:ea typeface="Inter" pitchFamily="34" charset="-122"/>
                <a:cs typeface="Inter" pitchFamily="34" charset="-120"/>
              </a:rPr>
              <a:t>Ejemplo: Average velocity calculation</a:t>
            </a:r>
            <a:endParaRPr lang="en-US" sz="1300" dirty="0"/>
          </a:p>
        </p:txBody>
      </p:sp>
      <p:sp>
        <p:nvSpPr>
          <p:cNvPr id="9" name="Text 7"/>
          <p:cNvSpPr/>
          <p:nvPr/>
        </p:nvSpPr>
        <p:spPr>
          <a:xfrm>
            <a:off x="685800" y="1965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 cyclist starts at position  at  and arrives at  at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1600200"/>
          </a:xfrm>
          <a:prstGeom prst="roundRect">
            <a:avLst>
              <a:gd name="adj" fmla="val 9524"/>
            </a:avLst>
          </a:prstGeom>
          <a:solidFill>
            <a:srgbClr val="161822"/>
          </a:solidFill>
          <a:ln w="6350">
            <a:solidFill>
              <a:srgbClr val="FBBF24"/>
            </a:solidFill>
            <a:prstDash val="solid"/>
          </a:ln>
        </p:spPr>
      </p:sp>
      <p:sp>
        <p:nvSpPr>
          <p:cNvPr id="3" name="Shape 1"/>
          <p:cNvSpPr/>
          <p:nvPr/>
        </p:nvSpPr>
        <p:spPr>
          <a:xfrm>
            <a:off x="457200" y="365760"/>
            <a:ext cx="54864" cy="1600200"/>
          </a:xfrm>
          <a:prstGeom prst="rect">
            <a:avLst/>
          </a:prstGeom>
          <a:solidFill>
            <a:srgbClr val="FBBF24"/>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FBBF24"/>
                </a:solidFill>
                <a:latin typeface="Inter" pitchFamily="34" charset="0"/>
                <a:ea typeface="Inter" pitchFamily="34" charset="-122"/>
                <a:cs typeface="Inter" pitchFamily="34" charset="-120"/>
              </a:rPr>
              <a:t>Contexto histórico: Galileo and the measurement of motion</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17th-century Italy there were no precise chronometers. Galileo needed to measure time accurately to study falling bodies, but the clocks of his era were too imprecise.</a:t>
            </a:r>
            <a:endParaRPr lang="en-US" sz="1200" dirty="0"/>
          </a:p>
        </p:txBody>
      </p:sp>
      <p:sp>
        <p:nvSpPr>
          <p:cNvPr id="6" name="Text 4"/>
          <p:cNvSpPr/>
          <p:nvPr/>
        </p:nvSpPr>
        <p:spPr>
          <a:xfrm>
            <a:off x="685800" y="12801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His solution was ingenious: instead of dropping objects vertically (too fast to measure), he built polished inclined planes to "dilute" gravity. He used a water container with a small hole — the water that flowed out during the fall was weighed, and the weight was proportional to the elapsed time.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3. Acceleration</a:t>
            </a:r>
            <a:endParaRPr lang="en-US" sz="2600" dirty="0"/>
          </a:p>
        </p:txBody>
      </p:sp>
      <p:sp>
        <p:nvSpPr>
          <p:cNvPr id="3" name="Shape 1"/>
          <p:cNvSpPr/>
          <p:nvPr/>
        </p:nvSpPr>
        <p:spPr>
          <a:xfrm>
            <a:off x="457200" y="1691640"/>
            <a:ext cx="11277295" cy="960120"/>
          </a:xfrm>
          <a:prstGeom prst="roundRect">
            <a:avLst>
              <a:gd name="adj" fmla="val 15873"/>
            </a:avLst>
          </a:prstGeom>
          <a:solidFill>
            <a:srgbClr val="161822"/>
          </a:solidFill>
          <a:ln w="6350">
            <a:solidFill>
              <a:srgbClr val="5B9CF5"/>
            </a:solidFill>
            <a:prstDash val="solid"/>
          </a:ln>
        </p:spPr>
      </p:sp>
      <p:sp>
        <p:nvSpPr>
          <p:cNvPr id="4" name="Shape 2"/>
          <p:cNvSpPr/>
          <p:nvPr/>
        </p:nvSpPr>
        <p:spPr>
          <a:xfrm>
            <a:off x="457200" y="1691640"/>
            <a:ext cx="54864" cy="960120"/>
          </a:xfrm>
          <a:prstGeom prst="rect">
            <a:avLst/>
          </a:prstGeom>
          <a:solidFill>
            <a:srgbClr val="5B9CF5"/>
          </a:solidFill>
          <a:ln w="12700">
            <a:solidFill>
              <a:srgbClr val="333333"/>
            </a:solidFill>
            <a:prstDash val="solid"/>
          </a:ln>
        </p:spPr>
      </p:sp>
      <p:sp>
        <p:nvSpPr>
          <p:cNvPr id="5" name="Text 3"/>
          <p:cNvSpPr/>
          <p:nvPr/>
        </p:nvSpPr>
        <p:spPr>
          <a:xfrm>
            <a:off x="640080" y="176479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Definición</a:t>
            </a:r>
            <a:endParaRPr lang="en-US" sz="1300" dirty="0"/>
          </a:p>
        </p:txBody>
      </p:sp>
      <p:sp>
        <p:nvSpPr>
          <p:cNvPr id="6" name="Text 4"/>
          <p:cNvSpPr/>
          <p:nvPr/>
        </p:nvSpPr>
        <p:spPr>
          <a:xfrm>
            <a:off x="685800" y="2148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Acceleration: Rate of change of velocity with respect to time: . Measured in m/s² in SI. It can be positive (speeding up), negative (slowing down), or zero (constant velocity).</a:t>
            </a:r>
            <a:endParaRPr lang="en-US" sz="1200" dirty="0"/>
          </a:p>
        </p:txBody>
      </p:sp>
      <p:sp>
        <p:nvSpPr>
          <p:cNvPr id="7" name="Shape 5"/>
          <p:cNvSpPr/>
          <p:nvPr/>
        </p:nvSpPr>
        <p:spPr>
          <a:xfrm>
            <a:off x="457200" y="2834640"/>
            <a:ext cx="11277295" cy="960120"/>
          </a:xfrm>
          <a:prstGeom prst="roundRect">
            <a:avLst>
              <a:gd name="adj" fmla="val 15873"/>
            </a:avLst>
          </a:prstGeom>
          <a:solidFill>
            <a:srgbClr val="161822"/>
          </a:solidFill>
          <a:ln w="6350">
            <a:solidFill>
              <a:srgbClr val="FBBF24"/>
            </a:solidFill>
            <a:prstDash val="solid"/>
          </a:ln>
        </p:spPr>
      </p:sp>
      <p:sp>
        <p:nvSpPr>
          <p:cNvPr id="8" name="Shape 6"/>
          <p:cNvSpPr/>
          <p:nvPr/>
        </p:nvSpPr>
        <p:spPr>
          <a:xfrm>
            <a:off x="457200" y="2834640"/>
            <a:ext cx="54864" cy="960120"/>
          </a:xfrm>
          <a:prstGeom prst="rect">
            <a:avLst/>
          </a:prstGeom>
          <a:solidFill>
            <a:srgbClr val="FBBF24"/>
          </a:solidFill>
          <a:ln w="12700">
            <a:solidFill>
              <a:srgbClr val="333333"/>
            </a:solidFill>
            <a:prstDash val="solid"/>
          </a:ln>
        </p:spPr>
      </p:sp>
      <p:sp>
        <p:nvSpPr>
          <p:cNvPr id="9" name="Text 7"/>
          <p:cNvSpPr/>
          <p:nvPr/>
        </p:nvSpPr>
        <p:spPr>
          <a:xfrm>
            <a:off x="640080" y="2907792"/>
            <a:ext cx="10911535" cy="365760"/>
          </a:xfrm>
          <a:prstGeom prst="rect">
            <a:avLst/>
          </a:prstGeom>
          <a:noFill/>
          <a:ln/>
        </p:spPr>
        <p:txBody>
          <a:bodyPr wrap="square" rtlCol="0" anchor="ctr"/>
          <a:lstStyle/>
          <a:p>
            <a:pPr indent="0" marL="0">
              <a:buNone/>
            </a:pPr>
            <a:r>
              <a:rPr lang="en-US" sz="1300" b="1" dirty="0">
                <a:solidFill>
                  <a:srgbClr val="FBBF24"/>
                </a:solidFill>
                <a:latin typeface="Inter" pitchFamily="34" charset="0"/>
                <a:ea typeface="Inter" pitchFamily="34" charset="-122"/>
                <a:cs typeface="Inter" pitchFamily="34" charset="-120"/>
              </a:rPr>
              <a:t>Nota</a:t>
            </a:r>
            <a:endParaRPr lang="en-US" sz="1300" dirty="0"/>
          </a:p>
        </p:txBody>
      </p:sp>
      <p:sp>
        <p:nvSpPr>
          <p:cNvPr id="10" name="Text 8"/>
          <p:cNvSpPr/>
          <p:nvPr/>
        </p:nvSpPr>
        <p:spPr>
          <a:xfrm>
            <a:off x="685800" y="3291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everyday language "accelerate" means to go faster. In physics, a negative acceleration does not necessarily mean braking — it depends on the direction of motion. An object moving to the left and accelerating to the left has negative velocity and negative acceleration, but its speed increases.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4. Uniform Rectilinear Motion (URM)</a:t>
            </a:r>
            <a:endParaRPr lang="en-US" sz="2600" dirty="0"/>
          </a:p>
        </p:txBody>
      </p:sp>
      <p:sp>
        <p:nvSpPr>
          <p:cNvPr id="3" name="Shape 1"/>
          <p:cNvSpPr/>
          <p:nvPr/>
        </p:nvSpPr>
        <p:spPr>
          <a:xfrm>
            <a:off x="457200" y="1691640"/>
            <a:ext cx="11277295" cy="960120"/>
          </a:xfrm>
          <a:prstGeom prst="roundRect">
            <a:avLst>
              <a:gd name="adj" fmla="val 15873"/>
            </a:avLst>
          </a:prstGeom>
          <a:solidFill>
            <a:srgbClr val="161822"/>
          </a:solidFill>
          <a:ln w="6350">
            <a:solidFill>
              <a:srgbClr val="4ADE80"/>
            </a:solidFill>
            <a:prstDash val="solid"/>
          </a:ln>
        </p:spPr>
      </p:sp>
      <p:sp>
        <p:nvSpPr>
          <p:cNvPr id="4" name="Shape 2"/>
          <p:cNvSpPr/>
          <p:nvPr/>
        </p:nvSpPr>
        <p:spPr>
          <a:xfrm>
            <a:off x="457200" y="1691640"/>
            <a:ext cx="54864" cy="960120"/>
          </a:xfrm>
          <a:prstGeom prst="rect">
            <a:avLst/>
          </a:prstGeom>
          <a:solidFill>
            <a:srgbClr val="4ADE80"/>
          </a:solidFill>
          <a:ln w="12700">
            <a:solidFill>
              <a:srgbClr val="333333"/>
            </a:solidFill>
            <a:prstDash val="solid"/>
          </a:ln>
        </p:spPr>
      </p:sp>
      <p:sp>
        <p:nvSpPr>
          <p:cNvPr id="5" name="Text 3"/>
          <p:cNvSpPr/>
          <p:nvPr/>
        </p:nvSpPr>
        <p:spPr>
          <a:xfrm>
            <a:off x="640080" y="1764792"/>
            <a:ext cx="10911535" cy="365760"/>
          </a:xfrm>
          <a:prstGeom prst="rect">
            <a:avLst/>
          </a:prstGeom>
          <a:noFill/>
          <a:ln/>
        </p:spPr>
        <p:txBody>
          <a:bodyPr wrap="square" rtlCol="0" anchor="ctr"/>
          <a:lstStyle/>
          <a:p>
            <a:pPr indent="0" marL="0">
              <a:buNone/>
            </a:pPr>
            <a:r>
              <a:rPr lang="en-US" sz="1300" b="1" dirty="0">
                <a:solidFill>
                  <a:srgbClr val="4ADE80"/>
                </a:solidFill>
                <a:latin typeface="Inter" pitchFamily="34" charset="0"/>
                <a:ea typeface="Inter" pitchFamily="34" charset="-122"/>
                <a:cs typeface="Inter" pitchFamily="34" charset="-120"/>
              </a:rPr>
              <a:t>Concepto clave</a:t>
            </a:r>
            <a:endParaRPr lang="en-US" sz="1300" dirty="0"/>
          </a:p>
        </p:txBody>
      </p:sp>
      <p:sp>
        <p:nvSpPr>
          <p:cNvPr id="6" name="Text 4"/>
          <p:cNvSpPr/>
          <p:nvPr/>
        </p:nvSpPr>
        <p:spPr>
          <a:xfrm>
            <a:off x="685800" y="2148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URM, velocity is constant (). Position varies linearly with time: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Comparación: URM vs. UARM</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Property</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URM</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UARM</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Velocity</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Constant</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Changes uniformly</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Acceleration</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0</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Constant (≠ 0)</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x-t graph</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Straight line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Parabola</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v-t graph</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Horizontal line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Inclined line</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Position equation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Diagrama: v-t graphs for URM and UARM</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Two velocity vs. time graphs side by side. The left one shows URM (horizontal line at constant velocity). The right one shows UARM (inclined straight line starting from v₀ with slope equal to acceleration). In both, the shaded area under the curve represents displacement.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5. Uniformly Accelerated Rectilinear Motion (UARM)</a:t>
            </a:r>
            <a:endParaRPr lang="en-US" sz="2600" dirty="0"/>
          </a:p>
        </p:txBody>
      </p:sp>
      <p:sp>
        <p:nvSpPr>
          <p:cNvPr id="3" name="Text 1"/>
          <p:cNvSpPr/>
          <p:nvPr/>
        </p:nvSpPr>
        <p:spPr>
          <a:xfrm>
            <a:off x="457200" y="1691640"/>
            <a:ext cx="11277295" cy="0"/>
          </a:xfrm>
          <a:prstGeom prst="rect">
            <a:avLst/>
          </a:prstGeom>
          <a:noFill/>
          <a:ln/>
        </p:spPr>
        <p:txBody>
          <a:bodyPr wrap="square" rtlCol="0" anchor="ctr"/>
          <a:lstStyle/>
          <a:p>
            <a:pPr indent="0" marL="0">
              <a:lnSpc>
                <a:spcPct val="115000"/>
              </a:lnSpc>
              <a:buNone/>
            </a:pPr>
            <a:r>
              <a:rPr lang="en-US" sz="1400" dirty="0">
                <a:solidFill>
                  <a:srgbClr val="E2E4F0"/>
                </a:solidFill>
                <a:latin typeface="Inter" pitchFamily="34" charset="0"/>
                <a:ea typeface="Inter" pitchFamily="34" charset="-122"/>
                <a:cs typeface="Inter" pitchFamily="34" charset="-120"/>
              </a:rPr>
              <a:t>The UARM equations are:</a:t>
            </a:r>
            <a:endParaRPr lang="en-US" sz="1400" dirty="0"/>
          </a:p>
        </p:txBody>
      </p:sp>
      <p:sp>
        <p:nvSpPr>
          <p:cNvPr id="4" name="Shape 2"/>
          <p:cNvSpPr/>
          <p:nvPr/>
        </p:nvSpPr>
        <p:spPr>
          <a:xfrm>
            <a:off x="457200" y="1993392"/>
            <a:ext cx="11277295" cy="640080"/>
          </a:xfrm>
          <a:prstGeom prst="roundRect">
            <a:avLst>
              <a:gd name="adj" fmla="val 23810"/>
            </a:avLst>
          </a:prstGeom>
          <a:solidFill>
            <a:srgbClr val="161822"/>
          </a:solidFill>
          <a:ln w="6350">
            <a:solidFill>
              <a:srgbClr val="5B9CF5"/>
            </a:solidFill>
            <a:prstDash val="solid"/>
          </a:ln>
        </p:spPr>
      </p:sp>
      <p:sp>
        <p:nvSpPr>
          <p:cNvPr id="5" name="Shape 3"/>
          <p:cNvSpPr/>
          <p:nvPr/>
        </p:nvSpPr>
        <p:spPr>
          <a:xfrm>
            <a:off x="457200" y="1993392"/>
            <a:ext cx="54864" cy="640080"/>
          </a:xfrm>
          <a:prstGeom prst="rect">
            <a:avLst/>
          </a:prstGeom>
          <a:solidFill>
            <a:srgbClr val="5B9CF5"/>
          </a:solidFill>
          <a:ln w="12700">
            <a:solidFill>
              <a:srgbClr val="333333"/>
            </a:solidFill>
            <a:prstDash val="solid"/>
          </a:ln>
        </p:spPr>
      </p:sp>
      <p:sp>
        <p:nvSpPr>
          <p:cNvPr id="6" name="Text 4"/>
          <p:cNvSpPr/>
          <p:nvPr/>
        </p:nvSpPr>
        <p:spPr>
          <a:xfrm>
            <a:off x="640080" y="2066544"/>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Ecuación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2048256"/>
          </a:xfrm>
          <a:prstGeom prst="roundRect">
            <a:avLst>
              <a:gd name="adj" fmla="val 7440"/>
            </a:avLst>
          </a:prstGeom>
          <a:solidFill>
            <a:srgbClr val="161822"/>
          </a:solidFill>
          <a:ln w="6350">
            <a:solidFill>
              <a:srgbClr val="7C5CFC"/>
            </a:solidFill>
            <a:prstDash val="solid"/>
          </a:ln>
        </p:spPr>
      </p:sp>
      <p:sp>
        <p:nvSpPr>
          <p:cNvPr id="3" name="Shape 1"/>
          <p:cNvSpPr/>
          <p:nvPr/>
        </p:nvSpPr>
        <p:spPr>
          <a:xfrm>
            <a:off x="457200" y="365760"/>
            <a:ext cx="54864" cy="2048256"/>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Mnemotécnico</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The 3 UARM equations — each one omits a variable:</a:t>
            </a:r>
            <a:endParaRPr lang="en-US" sz="1200" dirty="0"/>
          </a:p>
        </p:txBody>
      </p:sp>
      <p:sp>
        <p:nvSpPr>
          <p:cNvPr id="6" name="Text 4"/>
          <p:cNvSpPr/>
          <p:nvPr/>
        </p:nvSpPr>
        <p:spPr>
          <a:xfrm>
            <a:off x="685800" y="10515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Trick: identify what data you are missing in the problem and use the equation that does not need it.</a:t>
            </a:r>
            <a:endParaRPr lang="en-US" sz="1200" dirty="0"/>
          </a:p>
        </p:txBody>
      </p:sp>
      <p:sp>
        <p:nvSpPr>
          <p:cNvPr id="7" name="Text 5"/>
          <p:cNvSpPr/>
          <p:nvPr/>
        </p:nvSpPr>
        <p:spPr>
          <a:xfrm>
            <a:off x="731520" y="128016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Equation 1 omits position ( does not appear)</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Equation 2 omits final velocity ( does not appear)</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Equation 3 omits time ( does not appear)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Ejercicio: Braking a car</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 car travels at 90 km/h when the driver brakes uniformly and stops in 5 seconds. Calculate: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The braking acceleration.</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 The distance covered during braking.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2DD4BF"/>
            </a:solidFill>
            <a:prstDash val="solid"/>
          </a:ln>
        </p:spPr>
      </p:sp>
      <p:sp>
        <p:nvSpPr>
          <p:cNvPr id="3" name="Shape 1"/>
          <p:cNvSpPr/>
          <p:nvPr/>
        </p:nvSpPr>
        <p:spPr>
          <a:xfrm>
            <a:off x="457200" y="365760"/>
            <a:ext cx="54864" cy="960120"/>
          </a:xfrm>
          <a:prstGeom prst="rect">
            <a:avLst/>
          </a:prstGeom>
          <a:solidFill>
            <a:srgbClr val="2DD4BF"/>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2DD4BF"/>
                </a:solidFill>
                <a:latin typeface="Inter" pitchFamily="34" charset="0"/>
                <a:ea typeface="Inter" pitchFamily="34" charset="-122"/>
                <a:cs typeface="Inter" pitchFamily="34" charset="-120"/>
              </a:rPr>
              <a:t>Aplicación: Braking distance in road safety</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Braking distance is critical in traffic engineering. At 90 km/h, the car in the example needs 62.5 m to stop — not counting the driver's reaction time (≈ 1 s), which adds another 25 m. The total stopping distance would be ~87.5 m. This calculation determines the minimum following distance between vehicles and the length of braking zones on highways.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6. Free fall</a:t>
            </a:r>
            <a:endParaRPr lang="en-US" sz="2600" dirty="0"/>
          </a:p>
        </p:txBody>
      </p:sp>
      <p:sp>
        <p:nvSpPr>
          <p:cNvPr id="3" name="Shape 1"/>
          <p:cNvSpPr/>
          <p:nvPr/>
        </p:nvSpPr>
        <p:spPr>
          <a:xfrm>
            <a:off x="457200" y="1691640"/>
            <a:ext cx="11277295" cy="960120"/>
          </a:xfrm>
          <a:prstGeom prst="roundRect">
            <a:avLst>
              <a:gd name="adj" fmla="val 15873"/>
            </a:avLst>
          </a:prstGeom>
          <a:solidFill>
            <a:srgbClr val="161822"/>
          </a:solidFill>
          <a:ln w="6350">
            <a:solidFill>
              <a:srgbClr val="4ADE80"/>
            </a:solidFill>
            <a:prstDash val="solid"/>
          </a:ln>
        </p:spPr>
      </p:sp>
      <p:sp>
        <p:nvSpPr>
          <p:cNvPr id="4" name="Shape 2"/>
          <p:cNvSpPr/>
          <p:nvPr/>
        </p:nvSpPr>
        <p:spPr>
          <a:xfrm>
            <a:off x="457200" y="1691640"/>
            <a:ext cx="54864" cy="960120"/>
          </a:xfrm>
          <a:prstGeom prst="rect">
            <a:avLst/>
          </a:prstGeom>
          <a:solidFill>
            <a:srgbClr val="4ADE80"/>
          </a:solidFill>
          <a:ln w="12700">
            <a:solidFill>
              <a:srgbClr val="333333"/>
            </a:solidFill>
            <a:prstDash val="solid"/>
          </a:ln>
        </p:spPr>
      </p:sp>
      <p:sp>
        <p:nvSpPr>
          <p:cNvPr id="5" name="Text 3"/>
          <p:cNvSpPr/>
          <p:nvPr/>
        </p:nvSpPr>
        <p:spPr>
          <a:xfrm>
            <a:off x="640080" y="1764792"/>
            <a:ext cx="10911535" cy="365760"/>
          </a:xfrm>
          <a:prstGeom prst="rect">
            <a:avLst/>
          </a:prstGeom>
          <a:noFill/>
          <a:ln/>
        </p:spPr>
        <p:txBody>
          <a:bodyPr wrap="square" rtlCol="0" anchor="ctr"/>
          <a:lstStyle/>
          <a:p>
            <a:pPr indent="0" marL="0">
              <a:buNone/>
            </a:pPr>
            <a:r>
              <a:rPr lang="en-US" sz="1300" b="1" dirty="0">
                <a:solidFill>
                  <a:srgbClr val="4ADE80"/>
                </a:solidFill>
                <a:latin typeface="Inter" pitchFamily="34" charset="0"/>
                <a:ea typeface="Inter" pitchFamily="34" charset="-122"/>
                <a:cs typeface="Inter" pitchFamily="34" charset="-120"/>
              </a:rPr>
              <a:t>Concepto clave</a:t>
            </a:r>
            <a:endParaRPr lang="en-US" sz="1300" dirty="0"/>
          </a:p>
        </p:txBody>
      </p:sp>
      <p:sp>
        <p:nvSpPr>
          <p:cNvPr id="6" name="Text 4"/>
          <p:cNvSpPr/>
          <p:nvPr/>
        </p:nvSpPr>
        <p:spPr>
          <a:xfrm>
            <a:off x="685800" y="2148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Free fall is a special case of UARM where the acceleration is gravity: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FBBF24"/>
            </a:solidFill>
            <a:prstDash val="solid"/>
          </a:ln>
        </p:spPr>
      </p:sp>
      <p:sp>
        <p:nvSpPr>
          <p:cNvPr id="3" name="Shape 1"/>
          <p:cNvSpPr/>
          <p:nvPr/>
        </p:nvSpPr>
        <p:spPr>
          <a:xfrm>
            <a:off x="457200" y="365760"/>
            <a:ext cx="54864" cy="960120"/>
          </a:xfrm>
          <a:prstGeom prst="rect">
            <a:avLst/>
          </a:prstGeom>
          <a:solidFill>
            <a:srgbClr val="FBBF24"/>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FBBF24"/>
                </a:solidFill>
                <a:latin typeface="Inter" pitchFamily="34" charset="0"/>
                <a:ea typeface="Inter" pitchFamily="34" charset="-122"/>
                <a:cs typeface="Inter" pitchFamily="34" charset="-120"/>
              </a:rPr>
              <a:t>Dato adicional: Did you know?</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1971, astronaut David Scott simultaneously dropped a hammer and a feather on the Moon (no atmosphere). Both reached the ground at exactly the same time, confirming Galileo's prediction 367 years later — but this time on another world.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Ejercicio: Object falling from a building</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 ball is dropped from the roof of a 45 m tall building (). Calculate: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The time it takes to reach the ground.</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 The impact velocity.</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(Use  for simplicity)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Diagrama: Successive positions in free fall</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Vertical diagram showing an object in free fall:</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Vertical axis with marks every second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Object positions: 0 m, 5 m, 20 m, 45 m</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Increasing distances between positions (5 m, 15 m, 25 m)</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Illustrates visually that separation between positions grows with time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Figura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Galileo's thought experiment at the Tower of PisaClassic depiction of Galileo's experiment: two spheres of different mass dropped simultaneously from a height. Although there is no historical evidence that Galileo actually performed this experiment at the Tower of Pisa, the thought experiment was fundamental to his refutation of Aristotelian physics.Illustration adapted from Drake, S., Galileo at Work, 1978</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365760"/>
            <a:ext cx="11277295" cy="0"/>
          </a:xfrm>
          <a:prstGeom prst="rect">
            <a:avLst/>
          </a:prstGeom>
          <a:noFill/>
          <a:ln/>
        </p:spPr>
        <p:txBody>
          <a:bodyPr wrap="square" rtlCol="0" anchor="ctr"/>
          <a:lstStyle/>
          <a:p>
            <a:pPr algn="l" indent="0" marL="0">
              <a:buNone/>
            </a:pPr>
            <a:r>
              <a:rPr lang="en-US" sz="2600" b="1" dirty="0">
                <a:solidFill>
                  <a:srgbClr val="E2E4F0"/>
                </a:solidFill>
                <a:latin typeface="Inter" pitchFamily="34" charset="0"/>
                <a:ea typeface="Inter" pitchFamily="34" charset="-122"/>
                <a:cs typeface="Inter" pitchFamily="34" charset="-120"/>
              </a:rPr>
              <a:t>7. Interpreting graphs</a:t>
            </a:r>
            <a:endParaRPr lang="en-US" sz="2600" dirty="0"/>
          </a:p>
        </p:txBody>
      </p:sp>
      <p:sp>
        <p:nvSpPr>
          <p:cNvPr id="3" name="Shape 1"/>
          <p:cNvSpPr/>
          <p:nvPr/>
        </p:nvSpPr>
        <p:spPr>
          <a:xfrm>
            <a:off x="457200" y="1691640"/>
            <a:ext cx="11277295" cy="1472184"/>
          </a:xfrm>
          <a:prstGeom prst="roundRect">
            <a:avLst>
              <a:gd name="adj" fmla="val 10352"/>
            </a:avLst>
          </a:prstGeom>
          <a:solidFill>
            <a:srgbClr val="161822"/>
          </a:solidFill>
          <a:ln w="6350">
            <a:solidFill>
              <a:srgbClr val="4ADE80"/>
            </a:solidFill>
            <a:prstDash val="solid"/>
          </a:ln>
        </p:spPr>
      </p:sp>
      <p:sp>
        <p:nvSpPr>
          <p:cNvPr id="4" name="Shape 2"/>
          <p:cNvSpPr/>
          <p:nvPr/>
        </p:nvSpPr>
        <p:spPr>
          <a:xfrm>
            <a:off x="457200" y="1691640"/>
            <a:ext cx="54864" cy="1472184"/>
          </a:xfrm>
          <a:prstGeom prst="rect">
            <a:avLst/>
          </a:prstGeom>
          <a:solidFill>
            <a:srgbClr val="4ADE80"/>
          </a:solidFill>
          <a:ln w="12700">
            <a:solidFill>
              <a:srgbClr val="333333"/>
            </a:solidFill>
            <a:prstDash val="solid"/>
          </a:ln>
        </p:spPr>
      </p:sp>
      <p:sp>
        <p:nvSpPr>
          <p:cNvPr id="5" name="Text 3"/>
          <p:cNvSpPr/>
          <p:nvPr/>
        </p:nvSpPr>
        <p:spPr>
          <a:xfrm>
            <a:off x="640080" y="1764792"/>
            <a:ext cx="10911535" cy="365760"/>
          </a:xfrm>
          <a:prstGeom prst="rect">
            <a:avLst/>
          </a:prstGeom>
          <a:noFill/>
          <a:ln/>
        </p:spPr>
        <p:txBody>
          <a:bodyPr wrap="square" rtlCol="0" anchor="ctr"/>
          <a:lstStyle/>
          <a:p>
            <a:pPr indent="0" marL="0">
              <a:buNone/>
            </a:pPr>
            <a:r>
              <a:rPr lang="en-US" sz="1300" b="1" dirty="0">
                <a:solidFill>
                  <a:srgbClr val="4ADE80"/>
                </a:solidFill>
                <a:latin typeface="Inter" pitchFamily="34" charset="0"/>
                <a:ea typeface="Inter" pitchFamily="34" charset="-122"/>
                <a:cs typeface="Inter" pitchFamily="34" charset="-120"/>
              </a:rPr>
              <a:t>Concepto clave</a:t>
            </a:r>
            <a:endParaRPr lang="en-US" sz="1300" dirty="0"/>
          </a:p>
        </p:txBody>
      </p:sp>
      <p:sp>
        <p:nvSpPr>
          <p:cNvPr id="6" name="Text 4"/>
          <p:cNvSpPr/>
          <p:nvPr/>
        </p:nvSpPr>
        <p:spPr>
          <a:xfrm>
            <a:off x="685800" y="214884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Graphs are fundamental tools in kinematics:</a:t>
            </a:r>
            <a:endParaRPr lang="en-US" sz="1200" dirty="0"/>
          </a:p>
        </p:txBody>
      </p:sp>
      <p:sp>
        <p:nvSpPr>
          <p:cNvPr id="7" name="Text 5"/>
          <p:cNvSpPr/>
          <p:nvPr/>
        </p:nvSpPr>
        <p:spPr>
          <a:xfrm>
            <a:off x="731520" y="237744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In an x vs. t graph: the slope is velocity; curvature indicates acceleration.</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In a v vs. t graph: the slope is acceleration; the area under the curve is displacement.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Diagrama: Relationship between position, velocity, and acceleration</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Diagram showing the three kinematic quantities (position, velocity, acceleration) and the mathematical operations connecting them: differentiate to go from position to velocity and from velocity to acceleration; integrate in the reverse direction.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5B9CF5"/>
            </a:solidFill>
            <a:prstDash val="solid"/>
          </a:ln>
        </p:spPr>
      </p:sp>
      <p:sp>
        <p:nvSpPr>
          <p:cNvPr id="3" name="Shape 1"/>
          <p:cNvSpPr/>
          <p:nvPr/>
        </p:nvSpPr>
        <p:spPr>
          <a:xfrm>
            <a:off x="457200" y="365760"/>
            <a:ext cx="54864" cy="960120"/>
          </a:xfrm>
          <a:prstGeom prst="rect">
            <a:avLst/>
          </a:prstGeom>
          <a:solidFill>
            <a:srgbClr val="5B9CF5"/>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B9CF5"/>
                </a:solidFill>
                <a:latin typeface="Inter" pitchFamily="34" charset="0"/>
                <a:ea typeface="Inter" pitchFamily="34" charset="-122"/>
                <a:cs typeface="Inter" pitchFamily="34" charset="-120"/>
              </a:rPr>
              <a:t>Diagrama: Kinematics problem-solving flowchart</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Flowchart for solving kinematics problems: identify the type of motion (URM or UARM), list knowns and unknowns, select the appropriate equation, solve, and verify units and sign.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2048256"/>
          </a:xfrm>
          <a:prstGeom prst="roundRect">
            <a:avLst>
              <a:gd name="adj" fmla="val 7440"/>
            </a:avLst>
          </a:prstGeom>
          <a:solidFill>
            <a:srgbClr val="161822"/>
          </a:solidFill>
          <a:ln w="6350">
            <a:solidFill>
              <a:srgbClr val="FB923C"/>
            </a:solidFill>
            <a:prstDash val="solid"/>
          </a:ln>
        </p:spPr>
      </p:sp>
      <p:sp>
        <p:nvSpPr>
          <p:cNvPr id="3" name="Shape 1"/>
          <p:cNvSpPr/>
          <p:nvPr/>
        </p:nvSpPr>
        <p:spPr>
          <a:xfrm>
            <a:off x="457200" y="365760"/>
            <a:ext cx="54864" cy="2048256"/>
          </a:xfrm>
          <a:prstGeom prst="rect">
            <a:avLst/>
          </a:prstGeom>
          <a:solidFill>
            <a:srgbClr val="FB923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FB923C"/>
                </a:solidFill>
                <a:latin typeface="Inter" pitchFamily="34" charset="0"/>
                <a:ea typeface="Inter" pitchFamily="34" charset="-122"/>
                <a:cs typeface="Inter" pitchFamily="34" charset="-120"/>
              </a:rPr>
              <a:t>Solo para el docente</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Note for the instructor: This is a good moment for a hands-on activity with motion sensors or smartphone apps that record position and velocity. Students can walk in front of the sensor and see their graphs in real time, reinforcing the connection between physical movement and mathematical representation.</a:t>
            </a:r>
            <a:endParaRPr lang="en-US" sz="1200" dirty="0"/>
          </a:p>
        </p:txBody>
      </p:sp>
      <p:sp>
        <p:nvSpPr>
          <p:cNvPr id="6" name="Text 4"/>
          <p:cNvSpPr/>
          <p:nvPr/>
        </p:nvSpPr>
        <p:spPr>
          <a:xfrm>
            <a:off x="685800" y="17373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Assessment suggestion: give students a v-t graph and ask them to:</a:t>
            </a:r>
            <a:endParaRPr lang="en-US" sz="1200" dirty="0"/>
          </a:p>
        </p:txBody>
      </p:sp>
      <p:sp>
        <p:nvSpPr>
          <p:cNvPr id="7" name="Text 5"/>
          <p:cNvSpPr/>
          <p:nvPr/>
        </p:nvSpPr>
        <p:spPr>
          <a:xfrm>
            <a:off x="731520" y="196596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Calculate the acceleration in each segment</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Draw the corresponding x-t graph</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Calculate the total displacement (area under the curve)</a:t>
            </a:r>
            <a:endParaRPr lang="en-US" sz="1200" dirty="0"/>
          </a:p>
        </p:txBody>
      </p:sp>
      <p:sp>
        <p:nvSpPr>
          <p:cNvPr id="8" name="Shape 6"/>
          <p:cNvSpPr/>
          <p:nvPr/>
        </p:nvSpPr>
        <p:spPr>
          <a:xfrm>
            <a:off x="457200" y="2596896"/>
            <a:ext cx="11277295" cy="1728216"/>
          </a:xfrm>
          <a:prstGeom prst="roundRect">
            <a:avLst>
              <a:gd name="adj" fmla="val 8818"/>
            </a:avLst>
          </a:prstGeom>
          <a:solidFill>
            <a:srgbClr val="161822"/>
          </a:solidFill>
          <a:ln w="6350">
            <a:solidFill>
              <a:srgbClr val="7C5CFC"/>
            </a:solidFill>
            <a:prstDash val="solid"/>
          </a:ln>
        </p:spPr>
      </p:sp>
      <p:sp>
        <p:nvSpPr>
          <p:cNvPr id="9" name="Shape 7"/>
          <p:cNvSpPr/>
          <p:nvPr/>
        </p:nvSpPr>
        <p:spPr>
          <a:xfrm>
            <a:off x="457200" y="2596896"/>
            <a:ext cx="54864" cy="1728216"/>
          </a:xfrm>
          <a:prstGeom prst="rect">
            <a:avLst/>
          </a:prstGeom>
          <a:solidFill>
            <a:srgbClr val="7C5CFC"/>
          </a:solidFill>
          <a:ln w="12700">
            <a:solidFill>
              <a:srgbClr val="333333"/>
            </a:solidFill>
            <a:prstDash val="solid"/>
          </a:ln>
        </p:spPr>
      </p:sp>
      <p:sp>
        <p:nvSpPr>
          <p:cNvPr id="10" name="Text 8"/>
          <p:cNvSpPr/>
          <p:nvPr/>
        </p:nvSpPr>
        <p:spPr>
          <a:xfrm>
            <a:off x="640080" y="2670048"/>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Actividad del estudiante</a:t>
            </a:r>
            <a:endParaRPr lang="en-US" sz="1300" dirty="0"/>
          </a:p>
        </p:txBody>
      </p:sp>
      <p:sp>
        <p:nvSpPr>
          <p:cNvPr id="11" name="Text 9"/>
          <p:cNvSpPr/>
          <p:nvPr/>
        </p:nvSpPr>
        <p:spPr>
          <a:xfrm>
            <a:off x="685800" y="3054096"/>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Practice drawing x-t and v-t graphs for the following motions:</a:t>
            </a:r>
            <a:endParaRPr lang="en-US" sz="1200" dirty="0"/>
          </a:p>
        </p:txBody>
      </p:sp>
      <p:sp>
        <p:nvSpPr>
          <p:cNvPr id="12" name="Text 10"/>
          <p:cNvSpPr/>
          <p:nvPr/>
        </p:nvSpPr>
        <p:spPr>
          <a:xfrm>
            <a:off x="731520" y="3282696"/>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 car that starts from rest and accelerates uniformly for 10 s.</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 car that travels at constant speed and then brakes to a stop.</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 ball thrown upward that rises, stops, and falls.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2432304"/>
          </a:xfrm>
          <a:prstGeom prst="roundRect">
            <a:avLst>
              <a:gd name="adj" fmla="val 6266"/>
            </a:avLst>
          </a:prstGeom>
          <a:solidFill>
            <a:srgbClr val="161822"/>
          </a:solidFill>
          <a:ln w="6350">
            <a:solidFill>
              <a:srgbClr val="4ADE80"/>
            </a:solidFill>
            <a:prstDash val="solid"/>
          </a:ln>
        </p:spPr>
      </p:sp>
      <p:sp>
        <p:nvSpPr>
          <p:cNvPr id="3" name="Shape 1"/>
          <p:cNvSpPr/>
          <p:nvPr/>
        </p:nvSpPr>
        <p:spPr>
          <a:xfrm>
            <a:off x="457200" y="365760"/>
            <a:ext cx="54864" cy="2432304"/>
          </a:xfrm>
          <a:prstGeom prst="rect">
            <a:avLst/>
          </a:prstGeom>
          <a:solidFill>
            <a:srgbClr val="4ADE80"/>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4ADE80"/>
                </a:solidFill>
                <a:latin typeface="Inter" pitchFamily="34" charset="0"/>
                <a:ea typeface="Inter" pitchFamily="34" charset="-122"/>
                <a:cs typeface="Inter" pitchFamily="34" charset="-120"/>
              </a:rPr>
              <a:t>Resumen del capítulo</a:t>
            </a:r>
            <a:endParaRPr lang="en-US" sz="1300" dirty="0"/>
          </a:p>
        </p:txBody>
      </p:sp>
      <p:sp>
        <p:nvSpPr>
          <p:cNvPr id="5" name="Text 3"/>
          <p:cNvSpPr/>
          <p:nvPr/>
        </p:nvSpPr>
        <p:spPr>
          <a:xfrm>
            <a:off x="731520" y="82296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Position is the location of an object relative to the origin; displacement is the change in position (, vector); distance is the total path length (scalar).</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Average velocity is ; instantaneous velocity is the derivative  (slope in x-t graph).</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Acceleration is the rate of change of velocity ().</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In URM: , .</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In UARM: , with three fundamental equations relating , , , and .</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Free fall is UARM with . All bodies fall equally without air resistance.</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x-t and v-t graphs contain all kinematic information: slopes and areas reveal velocity, acceleration, and displacement.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Pregunta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Desarrollo</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train starts from rest and accelerates at  for 20 s. It then maintains constant speed for 60 s. Finally, it brakes uniformly and stops in 10 s. Calculate the total distance traveled.</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Explain why braking distance quadruples when speed doubles.</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Ver respuesta modelo</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Phase 1:  (). Phase 2: . Phase 3: . Total = 3000 m.</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Because braking distance depends on  (from the equation ). If  doubles,  quadruples, and with the same deceleration the distance quadruples.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Pregunta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Selección múltiple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An object is thrown vertically upward. At the highest point of its trajectory:</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Both velocity and acceleration are zero</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Gravitational acceleration never vanishes</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b</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Velocity is zero and acceleration is  (downward)</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Correct — velocity is momentarily zero but gravity keeps acting</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c</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Velocity is maximum and acceleration is zero</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Velocity is maximum at launch, not at the highest point</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d</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Both velocity and acceleration are maximum</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Both cannot be maximum simultaneously in this case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Pregunta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Selección múltiple</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a velocity vs. time graph, displacement is obtained by calculating:</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The slope of the curve</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The slope gives acceleration, not displacement</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b</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The y-intercept</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That gives the initial velocity</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c</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The maximum velocity</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That is just a single value</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d</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The area under the curve</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Correct — the integral of  is displacement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Pregunta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Verdadero o falso</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In the absence of air resistance, a heavier object falls faster than a lighter one.</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V</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Verdadero</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F</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  Falso</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Incorrect — all objects fall with the same acceleration regardless of mass. Galileo demonstrated this in the 17th century.</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960120"/>
          </a:xfrm>
          <a:prstGeom prst="roundRect">
            <a:avLst>
              <a:gd name="adj" fmla="val 15873"/>
            </a:avLst>
          </a:prstGeom>
          <a:solidFill>
            <a:srgbClr val="161822"/>
          </a:solidFill>
          <a:ln w="6350">
            <a:solidFill>
              <a:srgbClr val="7C5CFC"/>
            </a:solidFill>
            <a:prstDash val="solid"/>
          </a:ln>
        </p:spPr>
      </p:sp>
      <p:sp>
        <p:nvSpPr>
          <p:cNvPr id="3" name="Shape 1"/>
          <p:cNvSpPr/>
          <p:nvPr/>
        </p:nvSpPr>
        <p:spPr>
          <a:xfrm>
            <a:off x="457200" y="365760"/>
            <a:ext cx="54864" cy="960120"/>
          </a:xfrm>
          <a:prstGeom prst="rect">
            <a:avLst/>
          </a:prstGeom>
          <a:solidFill>
            <a:srgbClr val="7C5CFC"/>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7C5CFC"/>
                </a:solidFill>
                <a:latin typeface="Inter" pitchFamily="34" charset="0"/>
                <a:ea typeface="Inter" pitchFamily="34" charset="-122"/>
                <a:cs typeface="Inter" pitchFamily="34" charset="-120"/>
              </a:rPr>
              <a:t>Pregunta</a:t>
            </a:r>
            <a:endParaRPr lang="en-US" sz="1300" dirty="0"/>
          </a:p>
        </p:txBody>
      </p:sp>
      <p:sp>
        <p:nvSpPr>
          <p:cNvPr id="5" name="Text 3"/>
          <p:cNvSpPr/>
          <p:nvPr/>
        </p:nvSpPr>
        <p:spPr>
          <a:xfrm>
            <a:off x="685800" y="822960"/>
            <a:ext cx="10820095" cy="0"/>
          </a:xfrm>
          <a:prstGeom prst="rect">
            <a:avLst/>
          </a:prstGeom>
          <a:noFill/>
          <a:ln/>
        </p:spPr>
        <p:txBody>
          <a:bodyPr wrap="square" rtlCol="0" anchor="ctr"/>
          <a:lstStyle/>
          <a:p>
            <a:pPr indent="0" marL="0">
              <a:lnSpc>
                <a:spcPct val="110000"/>
              </a:lnSpc>
              <a:buNone/>
            </a:pPr>
            <a:r>
              <a:rPr lang="en-US" sz="1200" dirty="0">
                <a:solidFill>
                  <a:srgbClr val="E2E4F0"/>
                </a:solidFill>
                <a:latin typeface="Inter" pitchFamily="34" charset="0"/>
                <a:ea typeface="Inter" pitchFamily="34" charset="-122"/>
                <a:cs typeface="Inter" pitchFamily="34" charset="-120"/>
              </a:rPr>
              <a:t>Caso aplicado</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traffic forensics expert arrives at an accident scene. The skid marks on the asphalt measure 40 m. The friction coefficient between tires and dry asphalt is  (deceleration ). The speed limit in that area is 60 km/h.</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At what speed was the vehicle traveling before braking?</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 Was it exceeding the speed limit?</a:t>
            </a: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 If the pavement were wet (, deceleration ), how long would the skid mark be at the same initial speed?</a:t>
            </a:r>
            <a:endParaRPr lang="en-US" sz="1200" dirty="0"/>
          </a:p>
          <a:p>
            <a:pPr indent="0" marL="0">
              <a:lnSpc>
                <a:spcPct val="110000"/>
              </a:lnSpc>
              <a:buNone/>
            </a:pP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Ver respuesta modelo</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a) </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b) Yes, exceeding the limit by 24.3 km/h (84.3 vs 60 km/h)</a:t>
            </a:r>
            <a:endParaRPr lang="en-US" sz="1200" dirty="0"/>
          </a:p>
          <a:p>
            <a:pPr indent="0" marL="0">
              <a:lnSpc>
                <a:spcPct val="110000"/>
              </a:lnSpc>
              <a:buNone/>
            </a:pPr>
            <a:endParaRPr lang="en-US" sz="1200" dirty="0"/>
          </a:p>
          <a:p>
            <a:pPr indent="0" marL="0">
              <a:lnSpc>
                <a:spcPct val="110000"/>
              </a:lnSpc>
              <a:buNone/>
            </a:pPr>
            <a:r>
              <a:rPr lang="en-US" sz="1200" dirty="0">
                <a:solidFill>
                  <a:srgbClr val="E2E4F0"/>
                </a:solidFill>
                <a:latin typeface="Inter" pitchFamily="34" charset="0"/>
                <a:ea typeface="Inter" pitchFamily="34" charset="-122"/>
                <a:cs typeface="Inter" pitchFamily="34" charset="-120"/>
              </a:rPr>
              <a:t>c)  — nearly double than on dry road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457200" y="365760"/>
            <a:ext cx="11277295" cy="1664208"/>
          </a:xfrm>
          <a:prstGeom prst="roundRect">
            <a:avLst>
              <a:gd name="adj" fmla="val 9158"/>
            </a:avLst>
          </a:prstGeom>
          <a:solidFill>
            <a:srgbClr val="161822"/>
          </a:solidFill>
          <a:ln w="6350">
            <a:solidFill>
              <a:srgbClr val="5C6180"/>
            </a:solidFill>
            <a:prstDash val="solid"/>
          </a:ln>
        </p:spPr>
      </p:sp>
      <p:sp>
        <p:nvSpPr>
          <p:cNvPr id="3" name="Shape 1"/>
          <p:cNvSpPr/>
          <p:nvPr/>
        </p:nvSpPr>
        <p:spPr>
          <a:xfrm>
            <a:off x="457200" y="365760"/>
            <a:ext cx="54864" cy="1664208"/>
          </a:xfrm>
          <a:prstGeom prst="rect">
            <a:avLst/>
          </a:prstGeom>
          <a:solidFill>
            <a:srgbClr val="5C6180"/>
          </a:solidFill>
          <a:ln w="12700">
            <a:solidFill>
              <a:srgbClr val="333333"/>
            </a:solidFill>
            <a:prstDash val="solid"/>
          </a:ln>
        </p:spPr>
      </p:sp>
      <p:sp>
        <p:nvSpPr>
          <p:cNvPr id="4" name="Text 2"/>
          <p:cNvSpPr/>
          <p:nvPr/>
        </p:nvSpPr>
        <p:spPr>
          <a:xfrm>
            <a:off x="640080" y="438912"/>
            <a:ext cx="10911535" cy="365760"/>
          </a:xfrm>
          <a:prstGeom prst="rect">
            <a:avLst/>
          </a:prstGeom>
          <a:noFill/>
          <a:ln/>
        </p:spPr>
        <p:txBody>
          <a:bodyPr wrap="square" rtlCol="0" anchor="ctr"/>
          <a:lstStyle/>
          <a:p>
            <a:pPr indent="0" marL="0">
              <a:buNone/>
            </a:pPr>
            <a:r>
              <a:rPr lang="en-US" sz="1300" b="1" dirty="0">
                <a:solidFill>
                  <a:srgbClr val="5C6180"/>
                </a:solidFill>
                <a:latin typeface="Inter" pitchFamily="34" charset="0"/>
                <a:ea typeface="Inter" pitchFamily="34" charset="-122"/>
                <a:cs typeface="Inter" pitchFamily="34" charset="-120"/>
              </a:rPr>
              <a:t>Referencias bibliográficas</a:t>
            </a:r>
            <a:endParaRPr lang="en-US" sz="1300" dirty="0"/>
          </a:p>
        </p:txBody>
      </p:sp>
      <p:sp>
        <p:nvSpPr>
          <p:cNvPr id="5" name="Text 3"/>
          <p:cNvSpPr/>
          <p:nvPr/>
        </p:nvSpPr>
        <p:spPr>
          <a:xfrm>
            <a:off x="731520" y="822960"/>
            <a:ext cx="10728655" cy="0"/>
          </a:xfrm>
          <a:prstGeom prst="rect">
            <a:avLst/>
          </a:prstGeom>
          <a:noFill/>
          <a:ln/>
        </p:spPr>
        <p:txBody>
          <a:bodyPr wrap="square" rtlCol="0" anchor="ctr"/>
          <a:lstStyle/>
          <a:p>
            <a:pPr marL="342900" indent="-342900">
              <a:buSzPct val="100000"/>
              <a:buChar char="•"/>
            </a:pPr>
            <a:r>
              <a:rPr lang="en-US" sz="1200" dirty="0">
                <a:solidFill>
                  <a:srgbClr val="E2E4F0"/>
                </a:solidFill>
                <a:latin typeface="Inter" pitchFamily="34" charset="0"/>
                <a:ea typeface="Inter" pitchFamily="34" charset="-122"/>
                <a:cs typeface="Inter" pitchFamily="34" charset="-120"/>
              </a:rPr>
              <a:t>Serway RA, Jewett JW. Physics for Scientists and Engineers. 10th ed. Cengage Learning; 2019.</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Halliday D, Resnick R, Walker J. Fundamentals of Physics. 11th ed. Wiley; 2018.</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Giancoli DC. Physics: Principles with Applications. 7th ed. Pearson; 2014.</a:t>
            </a:r>
            <a:endParaRPr lang="en-US" sz="1200" dirty="0"/>
          </a:p>
          <a:p>
            <a:pPr marL="342900" indent="-342900">
              <a:buSzPct val="100000"/>
              <a:buChar char="•"/>
            </a:pPr>
            <a:r>
              <a:rPr lang="en-US" sz="1200" dirty="0">
                <a:solidFill>
                  <a:srgbClr val="E2E4F0"/>
                </a:solidFill>
                <a:latin typeface="Inter" pitchFamily="34" charset="0"/>
                <a:ea typeface="Inter" pitchFamily="34" charset="-122"/>
                <a:cs typeface="Inter" pitchFamily="34" charset="-120"/>
              </a:rPr>
              <a:t>Young HD, Freedman RA. University Physics. 14th ed. Pearson; 2018.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rgbClr val="E2E4F0"/>
      </a:dk1>
      <a:lt1>
        <a:srgbClr val="0F1117"/>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2026-03-15T14:11:55Z</dcterms:created>
  <dcterms:modified xsi:type="dcterms:W3CDTF">2026-03-15T14:11:55Z</dcterms:modified>
</cp:coreProperties>
</file>